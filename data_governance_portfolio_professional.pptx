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4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2.sv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12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11" Type="http://schemas.openxmlformats.org/officeDocument/2006/relationships/image" Target="../media/image8.svg"/><Relationship Id="rId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Project 1: Governance &amp; Security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52051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dirty="0" err="1"/>
              <a:t>LifePlus</a:t>
            </a:r>
            <a:r>
              <a:rPr dirty="0"/>
              <a:t> / FAST</a:t>
            </a:r>
          </a:p>
          <a:p>
            <a:r>
              <a:rPr dirty="0"/>
              <a:t>(Source Systems)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52051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dirty="0"/>
              <a:t>SQL Server / PostgreSQL</a:t>
            </a:r>
          </a:p>
          <a:p>
            <a:r>
              <a:rPr dirty="0"/>
              <a:t>(Storage)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dirty="0"/>
              <a:t>Snowflake / Redshift</a:t>
            </a:r>
          </a:p>
          <a:p>
            <a:r>
              <a:rPr dirty="0"/>
              <a:t>(Data Warehouse)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7432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rPr dirty="0"/>
              <a:t>Microsoft Purview</a:t>
            </a:r>
          </a:p>
          <a:p>
            <a:r>
              <a:rPr dirty="0"/>
              <a:t>(Classification &amp; Lineage)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dirty="0"/>
              <a:t>RBAC + DLP Controls</a:t>
            </a:r>
          </a:p>
          <a:p>
            <a:r>
              <a:rPr dirty="0"/>
              <a:t>(Security Layer)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3459" y="4111678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7030A0"/>
            </a:solidFill>
          </a:ln>
        </p:spPr>
        <p:txBody>
          <a:bodyPr wrap="none">
            <a:spAutoFit/>
          </a:bodyPr>
          <a:lstStyle/>
          <a:p>
            <a:r>
              <a:rPr dirty="0"/>
              <a:t>Power BI</a:t>
            </a:r>
          </a:p>
          <a:p>
            <a:r>
              <a:rPr dirty="0"/>
              <a:t>(Reporting &amp; Access)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dirty="0"/>
              <a:t>Audit &amp; Governance</a:t>
            </a:r>
          </a:p>
          <a:p>
            <a:r>
              <a:rPr dirty="0"/>
              <a:t>(Monitoring)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CCBB92-B6ED-BBF6-BF6E-FAC1B06D46E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200400" y="1909251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E5ED39-8627-1AE9-84EA-46EED8759292}"/>
              </a:ext>
            </a:extLst>
          </p:cNvPr>
          <p:cNvCxnSpPr/>
          <p:nvPr/>
        </p:nvCxnSpPr>
        <p:spPr>
          <a:xfrm>
            <a:off x="3165987" y="3187445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B16813-1A2D-BFDC-4DCD-13FF3B788ABF}"/>
              </a:ext>
            </a:extLst>
          </p:cNvPr>
          <p:cNvCxnSpPr/>
          <p:nvPr/>
        </p:nvCxnSpPr>
        <p:spPr>
          <a:xfrm>
            <a:off x="3200400" y="4554128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5CEA0A-B943-1EE2-1103-37EB7128F14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828800" y="2366451"/>
            <a:ext cx="3657600" cy="376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FD6DDF-2001-B1E1-68E2-FECADDA15F86}"/>
              </a:ext>
            </a:extLst>
          </p:cNvPr>
          <p:cNvCxnSpPr>
            <a:cxnSpLocks/>
          </p:cNvCxnSpPr>
          <p:nvPr/>
        </p:nvCxnSpPr>
        <p:spPr>
          <a:xfrm flipH="1">
            <a:off x="1828800" y="3680852"/>
            <a:ext cx="3657600" cy="376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3346A8-CA7C-1F72-A3B7-A3853736FBDE}"/>
              </a:ext>
            </a:extLst>
          </p:cNvPr>
          <p:cNvCxnSpPr>
            <a:cxnSpLocks/>
          </p:cNvCxnSpPr>
          <p:nvPr/>
        </p:nvCxnSpPr>
        <p:spPr>
          <a:xfrm flipH="1">
            <a:off x="1828800" y="5060491"/>
            <a:ext cx="3657600" cy="376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ACA594B9-5109-10BB-2BA1-913D91B97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2142" y="4300949"/>
            <a:ext cx="535858" cy="535858"/>
          </a:xfrm>
          <a:prstGeom prst="rect">
            <a:avLst/>
          </a:prstGeom>
        </p:spPr>
      </p:pic>
      <p:pic>
        <p:nvPicPr>
          <p:cNvPr id="26" name="Graphic 25" descr="Database with solid fill">
            <a:extLst>
              <a:ext uri="{FF2B5EF4-FFF2-40B4-BE49-F238E27FC236}">
                <a16:creationId xmlns:a16="http://schemas.microsoft.com/office/drawing/2014/main" id="{AD5C38B7-8251-288E-B18A-56507EC75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8406" y="1741771"/>
            <a:ext cx="649594" cy="649594"/>
          </a:xfrm>
          <a:prstGeom prst="rect">
            <a:avLst/>
          </a:prstGeom>
        </p:spPr>
      </p:pic>
      <p:pic>
        <p:nvPicPr>
          <p:cNvPr id="33" name="Graphic 32" descr="Social network with solid fill">
            <a:extLst>
              <a:ext uri="{FF2B5EF4-FFF2-40B4-BE49-F238E27FC236}">
                <a16:creationId xmlns:a16="http://schemas.microsoft.com/office/drawing/2014/main" id="{2FFFB4C7-0389-265B-8FE2-053B2F49DB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6051" y="3187445"/>
            <a:ext cx="550608" cy="550608"/>
          </a:xfrm>
          <a:prstGeom prst="rect">
            <a:avLst/>
          </a:prstGeom>
        </p:spPr>
      </p:pic>
      <p:pic>
        <p:nvPicPr>
          <p:cNvPr id="35" name="Graphic 34" descr="Checklist with solid fill">
            <a:extLst>
              <a:ext uri="{FF2B5EF4-FFF2-40B4-BE49-F238E27FC236}">
                <a16:creationId xmlns:a16="http://schemas.microsoft.com/office/drawing/2014/main" id="{3FE681BE-3B8E-9FCD-ABAB-4494A38A3F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5378" y="5756785"/>
            <a:ext cx="550609" cy="550609"/>
          </a:xfrm>
          <a:prstGeom prst="rect">
            <a:avLst/>
          </a:prstGeom>
        </p:spPr>
      </p:pic>
      <p:pic>
        <p:nvPicPr>
          <p:cNvPr id="37" name="Graphic 36" descr="Lock with solid fill">
            <a:extLst>
              <a:ext uri="{FF2B5EF4-FFF2-40B4-BE49-F238E27FC236}">
                <a16:creationId xmlns:a16="http://schemas.microsoft.com/office/drawing/2014/main" id="{9A896E40-52A1-E685-536E-663E5749B6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16393" y="4374689"/>
            <a:ext cx="550609" cy="550609"/>
          </a:xfrm>
          <a:prstGeom prst="rect">
            <a:avLst/>
          </a:prstGeom>
        </p:spPr>
      </p:pic>
      <p:pic>
        <p:nvPicPr>
          <p:cNvPr id="38" name="Graphic 37" descr="Cloud with solid fill">
            <a:extLst>
              <a:ext uri="{FF2B5EF4-FFF2-40B4-BE49-F238E27FC236}">
                <a16:creationId xmlns:a16="http://schemas.microsoft.com/office/drawing/2014/main" id="{7073C925-4AB8-EE91-8FC0-A8824DECC2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89572" y="2947219"/>
            <a:ext cx="698090" cy="69809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06C08BA-183D-7EC5-88D3-6BACBC997B6C}"/>
              </a:ext>
            </a:extLst>
          </p:cNvPr>
          <p:cNvSpPr txBox="1"/>
          <p:nvPr/>
        </p:nvSpPr>
        <p:spPr>
          <a:xfrm>
            <a:off x="6841126" y="5204936"/>
            <a:ext cx="1925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🔵 Systems</a:t>
            </a:r>
          </a:p>
          <a:p>
            <a:r>
              <a:rPr lang="en-US" dirty="0"/>
              <a:t>🟢 Governance</a:t>
            </a:r>
          </a:p>
          <a:p>
            <a:r>
              <a:rPr lang="en-US" dirty="0"/>
              <a:t>🟠 Security / DLP</a:t>
            </a:r>
          </a:p>
          <a:p>
            <a:r>
              <a:rPr lang="en-US" dirty="0"/>
              <a:t>🟣 Reporting</a:t>
            </a:r>
          </a:p>
          <a:p>
            <a:r>
              <a:rPr lang="en-US" dirty="0"/>
              <a:t>🔴 Risk / 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2: Data Quality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dirty="0" err="1"/>
              <a:t>LifePlus</a:t>
            </a:r>
            <a:r>
              <a:rPr dirty="0"/>
              <a:t> / FAST</a:t>
            </a:r>
          </a:p>
          <a:p>
            <a:r>
              <a:rPr dirty="0"/>
              <a:t>(Source)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3391" y="13716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dirty="0"/>
              <a:t>SQL Server / PostgreSQL</a:t>
            </a:r>
          </a:p>
          <a:p>
            <a:r>
              <a:rPr dirty="0"/>
              <a:t>(Staging)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t>Snowflake / Redshift</a:t>
            </a:r>
          </a:p>
          <a:p>
            <a:r>
              <a:t>(Transformation)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3390" y="2743201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6">
                <a:alpha val="99000"/>
              </a:schemeClr>
            </a:solidFill>
          </a:ln>
        </p:spPr>
        <p:txBody>
          <a:bodyPr wrap="none">
            <a:spAutoFit/>
          </a:bodyPr>
          <a:lstStyle/>
          <a:p>
            <a:r>
              <a:rPr dirty="0"/>
              <a:t>DQ Rules Engine</a:t>
            </a:r>
          </a:p>
          <a:p>
            <a:r>
              <a:rPr dirty="0"/>
              <a:t>(Validation)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r>
              <a:t>Purview Lineage</a:t>
            </a:r>
          </a:p>
          <a:p>
            <a:r>
              <a:t>(Trace Issues)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3391" y="41148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dirty="0"/>
              <a:t>GitHub / DevOps</a:t>
            </a:r>
          </a:p>
          <a:p>
            <a:r>
              <a:rPr dirty="0"/>
              <a:t>(Issue Tracking)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7030A0"/>
            </a:solidFill>
          </a:ln>
        </p:spPr>
        <p:txBody>
          <a:bodyPr wrap="none">
            <a:spAutoFit/>
          </a:bodyPr>
          <a:lstStyle/>
          <a:p>
            <a:r>
              <a:rPr dirty="0"/>
              <a:t>Power BI</a:t>
            </a:r>
          </a:p>
          <a:p>
            <a:r>
              <a:rPr dirty="0"/>
              <a:t>(KPI Monitoring)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E36955-4EEA-74C7-32D4-14BD91247FE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200400" y="1828800"/>
            <a:ext cx="15829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284885-8194-4F9F-E931-ABCA74E01825}"/>
              </a:ext>
            </a:extLst>
          </p:cNvPr>
          <p:cNvCxnSpPr/>
          <p:nvPr/>
        </p:nvCxnSpPr>
        <p:spPr>
          <a:xfrm>
            <a:off x="3200400" y="3200400"/>
            <a:ext cx="15829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6F7EC3-E3DC-6164-5197-54DCB7AFB07D}"/>
              </a:ext>
            </a:extLst>
          </p:cNvPr>
          <p:cNvCxnSpPr/>
          <p:nvPr/>
        </p:nvCxnSpPr>
        <p:spPr>
          <a:xfrm>
            <a:off x="3200399" y="4552335"/>
            <a:ext cx="15829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54BA6E-A463-6514-1AE5-A0773810BA63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828800" y="2290916"/>
            <a:ext cx="4326190" cy="452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579B1C-AE28-C858-64F3-8F9DA7A72C4C}"/>
              </a:ext>
            </a:extLst>
          </p:cNvPr>
          <p:cNvCxnSpPr>
            <a:cxnSpLocks/>
          </p:cNvCxnSpPr>
          <p:nvPr/>
        </p:nvCxnSpPr>
        <p:spPr>
          <a:xfrm flipH="1">
            <a:off x="1828799" y="3652683"/>
            <a:ext cx="4326190" cy="452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439010E-1910-F091-B3EB-5D832B37F878}"/>
              </a:ext>
            </a:extLst>
          </p:cNvPr>
          <p:cNvCxnSpPr>
            <a:cxnSpLocks/>
          </p:cNvCxnSpPr>
          <p:nvPr/>
        </p:nvCxnSpPr>
        <p:spPr>
          <a:xfrm flipH="1">
            <a:off x="1828799" y="5043948"/>
            <a:ext cx="4326190" cy="452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Database with solid fill">
            <a:extLst>
              <a:ext uri="{FF2B5EF4-FFF2-40B4-BE49-F238E27FC236}">
                <a16:creationId xmlns:a16="http://schemas.microsoft.com/office/drawing/2014/main" id="{9C79595A-F417-B9B0-4D84-EA22CE8FC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1682444"/>
            <a:ext cx="649594" cy="649594"/>
          </a:xfrm>
          <a:prstGeom prst="rect">
            <a:avLst/>
          </a:prstGeom>
        </p:spPr>
      </p:pic>
      <p:pic>
        <p:nvPicPr>
          <p:cNvPr id="26" name="Graphic 25" descr="Cloud with solid fill">
            <a:extLst>
              <a:ext uri="{FF2B5EF4-FFF2-40B4-BE49-F238E27FC236}">
                <a16:creationId xmlns:a16="http://schemas.microsoft.com/office/drawing/2014/main" id="{E8A864EC-383B-176C-8A44-0790CF7AA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9572" y="2947219"/>
            <a:ext cx="698090" cy="698090"/>
          </a:xfrm>
          <a:prstGeom prst="rect">
            <a:avLst/>
          </a:prstGeom>
        </p:spPr>
      </p:pic>
      <p:pic>
        <p:nvPicPr>
          <p:cNvPr id="28" name="Graphic 27" descr="Checkmark with solid fill">
            <a:extLst>
              <a:ext uri="{FF2B5EF4-FFF2-40B4-BE49-F238E27FC236}">
                <a16:creationId xmlns:a16="http://schemas.microsoft.com/office/drawing/2014/main" id="{6E20E07C-2E4F-0EC6-00F8-5F7043FA6B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3084871"/>
            <a:ext cx="560438" cy="560438"/>
          </a:xfrm>
          <a:prstGeom prst="rect">
            <a:avLst/>
          </a:prstGeom>
        </p:spPr>
      </p:pic>
      <p:pic>
        <p:nvPicPr>
          <p:cNvPr id="30" name="Graphic 29" descr="Chevron arrows with solid fill">
            <a:extLst>
              <a:ext uri="{FF2B5EF4-FFF2-40B4-BE49-F238E27FC236}">
                <a16:creationId xmlns:a16="http://schemas.microsoft.com/office/drawing/2014/main" id="{03C756FB-A5DF-75B3-6B80-2F8BCF005E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22351" y="4547419"/>
            <a:ext cx="445517" cy="445517"/>
          </a:xfrm>
          <a:prstGeom prst="rect">
            <a:avLst/>
          </a:prstGeom>
        </p:spPr>
      </p:pic>
      <p:pic>
        <p:nvPicPr>
          <p:cNvPr id="32" name="Graphic 31" descr="Chevron arrows with solid fill">
            <a:extLst>
              <a:ext uri="{FF2B5EF4-FFF2-40B4-BE49-F238E27FC236}">
                <a16:creationId xmlns:a16="http://schemas.microsoft.com/office/drawing/2014/main" id="{8FF8333D-3563-8010-35A2-A8E711BB59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42145" y="4547419"/>
            <a:ext cx="445517" cy="445517"/>
          </a:xfrm>
          <a:prstGeom prst="rect">
            <a:avLst/>
          </a:prstGeom>
        </p:spPr>
      </p:pic>
      <p:pic>
        <p:nvPicPr>
          <p:cNvPr id="34" name="Graphic 33" descr="Warning with solid fill">
            <a:extLst>
              <a:ext uri="{FF2B5EF4-FFF2-40B4-BE49-F238E27FC236}">
                <a16:creationId xmlns:a16="http://schemas.microsoft.com/office/drawing/2014/main" id="{CE2DCC96-468C-DD68-8C68-1759D03EF4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1649" y="4535737"/>
            <a:ext cx="457199" cy="457199"/>
          </a:xfrm>
          <a:prstGeom prst="rect">
            <a:avLst/>
          </a:prstGeom>
        </p:spPr>
      </p:pic>
      <p:pic>
        <p:nvPicPr>
          <p:cNvPr id="35" name="Graphic 34" descr="Bar chart with solid fill">
            <a:extLst>
              <a:ext uri="{FF2B5EF4-FFF2-40B4-BE49-F238E27FC236}">
                <a16:creationId xmlns:a16="http://schemas.microsoft.com/office/drawing/2014/main" id="{C5FC5D0E-50BA-1DDE-5D4B-EF0C017E71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67868" y="5719915"/>
            <a:ext cx="535858" cy="53585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F7A2900-28E7-B61C-4F0B-086ADF8CE4AC}"/>
              </a:ext>
            </a:extLst>
          </p:cNvPr>
          <p:cNvSpPr txBox="1"/>
          <p:nvPr/>
        </p:nvSpPr>
        <p:spPr>
          <a:xfrm>
            <a:off x="7021649" y="5163234"/>
            <a:ext cx="1925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🔵 Systems</a:t>
            </a:r>
          </a:p>
          <a:p>
            <a:r>
              <a:rPr lang="en-US" dirty="0"/>
              <a:t>🟢 Governance</a:t>
            </a:r>
          </a:p>
          <a:p>
            <a:r>
              <a:rPr lang="en-US" dirty="0"/>
              <a:t>🟠 Security / DLP</a:t>
            </a:r>
          </a:p>
          <a:p>
            <a:r>
              <a:rPr lang="en-US" dirty="0"/>
              <a:t>🟣 Reporting</a:t>
            </a:r>
          </a:p>
          <a:p>
            <a:r>
              <a:rPr lang="en-US" dirty="0"/>
              <a:t>🔴 Risk / DR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3: Lineage, Trust &amp;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t>Source Systems</a:t>
            </a:r>
          </a:p>
          <a:p>
            <a:r>
              <a:t>(LifePlus / FAST)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dirty="0"/>
              <a:t>Operational DBs</a:t>
            </a:r>
          </a:p>
          <a:p>
            <a:r>
              <a:rPr dirty="0"/>
              <a:t>(SQL Server / PostgreSQL)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dirty="0"/>
              <a:t>Data Warehouse</a:t>
            </a:r>
          </a:p>
          <a:p>
            <a:r>
              <a:rPr dirty="0"/>
              <a:t>(Snowflake / Redshift)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792361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00B050">
                <a:alpha val="99000"/>
              </a:srgbClr>
            </a:solidFill>
          </a:ln>
        </p:spPr>
        <p:txBody>
          <a:bodyPr wrap="none">
            <a:spAutoFit/>
          </a:bodyPr>
          <a:lstStyle/>
          <a:p>
            <a:r>
              <a:rPr dirty="0"/>
              <a:t>Purview</a:t>
            </a:r>
          </a:p>
          <a:p>
            <a:r>
              <a:rPr dirty="0"/>
              <a:t>(Metadata &amp; Lineage)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7030A0"/>
            </a:solidFill>
          </a:ln>
        </p:spPr>
        <p:txBody>
          <a:bodyPr wrap="none">
            <a:spAutoFit/>
          </a:bodyPr>
          <a:lstStyle/>
          <a:p>
            <a:r>
              <a:rPr dirty="0"/>
              <a:t>Power BI</a:t>
            </a:r>
          </a:p>
          <a:p>
            <a:r>
              <a:rPr dirty="0"/>
              <a:t>(Certified Reports)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1148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dirty="0"/>
              <a:t>DR Layer</a:t>
            </a:r>
          </a:p>
          <a:p>
            <a:r>
              <a:rPr dirty="0"/>
              <a:t>(Backup / Recovery)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27432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dirty="0"/>
              <a:t>Governance</a:t>
            </a:r>
          </a:p>
          <a:p>
            <a:r>
              <a:rPr dirty="0"/>
              <a:t>(Audit &amp; Review)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42C5A6-B0DD-B095-433D-AFAA115647E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200400" y="1828800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A7BF8F-6C0E-612C-9920-8479C0572A6F}"/>
              </a:ext>
            </a:extLst>
          </p:cNvPr>
          <p:cNvCxnSpPr/>
          <p:nvPr/>
        </p:nvCxnSpPr>
        <p:spPr>
          <a:xfrm>
            <a:off x="3200400" y="3249561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2BD3DA-69E8-79E9-6099-DF4E47AB3942}"/>
              </a:ext>
            </a:extLst>
          </p:cNvPr>
          <p:cNvCxnSpPr/>
          <p:nvPr/>
        </p:nvCxnSpPr>
        <p:spPr>
          <a:xfrm>
            <a:off x="3200400" y="4522839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F5D346-6493-E11F-B9B7-131E3CF6D274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828800" y="2286000"/>
            <a:ext cx="3657600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076D28-DDD6-DC93-D0E1-0B121780EFC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828800" y="3706761"/>
            <a:ext cx="3657600" cy="358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05F7CD-AC87-231E-0365-DBD7F43B333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828800" y="5029200"/>
            <a:ext cx="3657600" cy="368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Database with solid fill">
            <a:extLst>
              <a:ext uri="{FF2B5EF4-FFF2-40B4-BE49-F238E27FC236}">
                <a16:creationId xmlns:a16="http://schemas.microsoft.com/office/drawing/2014/main" id="{05D4879A-A5F5-AC2E-0B74-611CE7DA4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0" y="1798638"/>
            <a:ext cx="536523" cy="536523"/>
          </a:xfrm>
          <a:prstGeom prst="rect">
            <a:avLst/>
          </a:prstGeom>
        </p:spPr>
      </p:pic>
      <p:pic>
        <p:nvPicPr>
          <p:cNvPr id="25" name="Graphic 24" descr="Cloud with solid fill">
            <a:extLst>
              <a:ext uri="{FF2B5EF4-FFF2-40B4-BE49-F238E27FC236}">
                <a16:creationId xmlns:a16="http://schemas.microsoft.com/office/drawing/2014/main" id="{B96B1769-4C55-4C35-DC18-2E65AC9F3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2310" y="3050458"/>
            <a:ext cx="698090" cy="698090"/>
          </a:xfrm>
          <a:prstGeom prst="rect">
            <a:avLst/>
          </a:prstGeom>
        </p:spPr>
      </p:pic>
      <p:pic>
        <p:nvPicPr>
          <p:cNvPr id="26" name="Graphic 25" descr="Bar chart with solid fill">
            <a:extLst>
              <a:ext uri="{FF2B5EF4-FFF2-40B4-BE49-F238E27FC236}">
                <a16:creationId xmlns:a16="http://schemas.microsoft.com/office/drawing/2014/main" id="{BE3B5C31-B8A7-8A67-4679-EB066C9FDB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3426" y="4444181"/>
            <a:ext cx="535858" cy="535858"/>
          </a:xfrm>
          <a:prstGeom prst="rect">
            <a:avLst/>
          </a:prstGeom>
        </p:spPr>
      </p:pic>
      <p:pic>
        <p:nvPicPr>
          <p:cNvPr id="27" name="Graphic 26" descr="Social network with solid fill">
            <a:extLst>
              <a:ext uri="{FF2B5EF4-FFF2-40B4-BE49-F238E27FC236}">
                <a16:creationId xmlns:a16="http://schemas.microsoft.com/office/drawing/2014/main" id="{7277E067-AB33-0691-D769-AC1412F081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0800" y="3274142"/>
            <a:ext cx="408039" cy="408039"/>
          </a:xfrm>
          <a:prstGeom prst="rect">
            <a:avLst/>
          </a:prstGeom>
        </p:spPr>
      </p:pic>
      <p:pic>
        <p:nvPicPr>
          <p:cNvPr id="28" name="Graphic 27" descr="Checklist with solid fill">
            <a:extLst>
              <a:ext uri="{FF2B5EF4-FFF2-40B4-BE49-F238E27FC236}">
                <a16:creationId xmlns:a16="http://schemas.microsoft.com/office/drawing/2014/main" id="{31136E58-09BB-487D-92FA-B1E986628B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5378" y="5756785"/>
            <a:ext cx="550609" cy="550609"/>
          </a:xfrm>
          <a:prstGeom prst="rect">
            <a:avLst/>
          </a:prstGeom>
        </p:spPr>
      </p:pic>
      <p:pic>
        <p:nvPicPr>
          <p:cNvPr id="32" name="Graphic 31" descr="Arrow circle with solid fill">
            <a:extLst>
              <a:ext uri="{FF2B5EF4-FFF2-40B4-BE49-F238E27FC236}">
                <a16:creationId xmlns:a16="http://schemas.microsoft.com/office/drawing/2014/main" id="{8C3285C2-E024-EF53-E227-23A1EC76DC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9070" y="4444181"/>
            <a:ext cx="439991" cy="43999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DB18795-2C2F-3D00-EA9B-85BB0BF62D61}"/>
              </a:ext>
            </a:extLst>
          </p:cNvPr>
          <p:cNvSpPr txBox="1"/>
          <p:nvPr/>
        </p:nvSpPr>
        <p:spPr>
          <a:xfrm>
            <a:off x="6841126" y="5204936"/>
            <a:ext cx="1925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🔵 Systems</a:t>
            </a:r>
          </a:p>
          <a:p>
            <a:r>
              <a:rPr lang="en-US" dirty="0"/>
              <a:t>🟢 Governance</a:t>
            </a:r>
          </a:p>
          <a:p>
            <a:r>
              <a:rPr lang="en-US" dirty="0"/>
              <a:t>🟠 Security / DLP</a:t>
            </a:r>
          </a:p>
          <a:p>
            <a:r>
              <a:rPr lang="en-US" dirty="0"/>
              <a:t>🟣 Reporting</a:t>
            </a:r>
          </a:p>
          <a:p>
            <a:r>
              <a:rPr lang="en-US" dirty="0"/>
              <a:t>🔴 Risk / 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203</Words>
  <Application>Microsoft Office PowerPoint</Application>
  <PresentationFormat>On-screen Show (4:3)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Project 1: Governance &amp; Security Workflow</vt:lpstr>
      <vt:lpstr>Project 2: Data Quality Workflow</vt:lpstr>
      <vt:lpstr>Project 3: Lineage, Trust &amp; DR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Ajit Dive</cp:lastModifiedBy>
  <cp:revision>8</cp:revision>
  <dcterms:created xsi:type="dcterms:W3CDTF">2013-01-27T09:14:16Z</dcterms:created>
  <dcterms:modified xsi:type="dcterms:W3CDTF">2026-03-20T00:27:10Z</dcterms:modified>
  <cp:category/>
</cp:coreProperties>
</file>